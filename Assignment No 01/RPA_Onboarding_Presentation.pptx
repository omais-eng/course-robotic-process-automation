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 Slide</a:t>
            </a:r>
          </a:p>
          <a:p/>
          <a:p>
            <a:r>
              <a:t>Welcome everyone. This presentation covers Assignment No. 01 for the Robotic Process Automation course.</a:t>
            </a:r>
          </a:p>
          <a:p/>
          <a:p>
            <a:r>
              <a:t>The topic is Employee Onboarding Automation — a real-world HR process that has been evaluated as a strong candidate for hybrid RPA implementation.</a:t>
            </a:r>
          </a:p>
          <a:p/>
          <a:p>
            <a:r>
              <a:t>The full interactive website and all supporting files are available on GitHub at the link shown on screen.</a:t>
            </a:r>
          </a:p>
          <a:p/>
          <a:p>
            <a:r>
              <a:t>Key points to mention:</a:t>
            </a:r>
          </a:p>
          <a:p>
            <a:r>
              <a:t>- HR onboarding is a high-volume, rule-based process that spans multiple systems</a:t>
            </a:r>
          </a:p>
          <a:p>
            <a:r>
              <a:t>- The goal is to identify where RPA can reduce manual effort, errors, and cycle time</a:t>
            </a:r>
          </a:p>
          <a:p>
            <a:r>
              <a:t>- We recommend a Hybrid RPA model combining unattended and attended automation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Agenda</a:t>
            </a:r>
          </a:p>
          <a:p/>
          <a:p>
            <a:r>
              <a:t>Walk the audience through the structure of the presentation before diving in.</a:t>
            </a:r>
          </a:p>
          <a:p/>
          <a:p>
            <a:r>
              <a:t>This presentation is organised into 7 sections:</a:t>
            </a:r>
          </a:p>
          <a:p>
            <a:r>
              <a:t>1. Introduction — context on why onboarding is a good fit for RPA</a:t>
            </a:r>
          </a:p>
          <a:p>
            <a:r>
              <a:t>2. Business Process — the detailed 7-step onboarding workflow</a:t>
            </a:r>
          </a:p>
          <a:p>
            <a:r>
              <a:t>3. Pain Points — specific manual bottlenecks we identified</a:t>
            </a:r>
          </a:p>
          <a:p>
            <a:r>
              <a:t>4. Use Case Evaluation — our recommendation for Hybrid RPA and the justification</a:t>
            </a:r>
          </a:p>
          <a:p>
            <a:r>
              <a:t>5. Implementation Plan — which tasks to automate first, which tools to use</a:t>
            </a:r>
          </a:p>
          <a:p>
            <a:r>
              <a:t>6. Projected Benefits — quantified before/after comparison</a:t>
            </a:r>
          </a:p>
          <a:p>
            <a:r>
              <a:t>7. Summary — key takeaways and links to the full deliverable on GitHub</a:t>
            </a:r>
          </a:p>
          <a:p/>
          <a:p>
            <a:r>
              <a:t>Total presentation is 10 slides. Estimated speaking time: 8–12 minutes.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Introduction</a:t>
            </a:r>
          </a:p>
          <a:p/>
          <a:p>
            <a:r>
              <a:t>Key message: Onboarding isn't just slow — it's structurally broken for manual execution.</a:t>
            </a:r>
          </a:p>
          <a:p/>
          <a:p>
            <a:r>
              <a:t>Talking points:</a:t>
            </a:r>
          </a:p>
          <a:p>
            <a:r>
              <a:t>- Every new hire requires data entry in JD Edwards (HRIS), Paycon (payroll), AND Microsoft 365 — three separate systems with no native integration.</a:t>
            </a:r>
          </a:p>
          <a:p>
            <a:r>
              <a:t>- HR teams often copy-paste or re-type the same information 3–5 times.</a:t>
            </a:r>
          </a:p>
          <a:p>
            <a:r>
              <a:t>- The stat cards on the right summarise the current state: 4–6 hours per hire, 5–10% error rate in payroll, and up to 300 hours of HR time per week for a 50-hire volume.</a:t>
            </a:r>
          </a:p>
          <a:p>
            <a:r>
              <a:t>- RPA is specifically designed for exactly this scenario: structured data, repeated process steps, multiple systems, high volume.</a:t>
            </a:r>
          </a:p>
          <a:p>
            <a:r>
              <a:t>- The business case is clear before we even look at the numbers.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Business Process</a:t>
            </a:r>
          </a:p>
          <a:p/>
          <a:p>
            <a:r>
              <a:t>Walk through all 7 steps of the current onboarding workflow.</a:t>
            </a:r>
          </a:p>
          <a:p/>
          <a:p>
            <a:r>
              <a:t>Step 1 — Job Offer &amp; Acceptance: Currently HR manually prepares offer letters, sometimes in Word, sometimes in JD Edwards. Acceptance is tracked via email.</a:t>
            </a:r>
          </a:p>
          <a:p/>
          <a:p>
            <a:r>
              <a:t>Step 2 — Pre-Onboarding Setup: Personal data (name, address, SIN, banking info) is collected via form or email and manually keyed into systems.</a:t>
            </a:r>
          </a:p>
          <a:p/>
          <a:p>
            <a:r>
              <a:t>Step 3 — Document Management: ID, contracts, tax forms are collected and uploaded manually to SharePoint. Completeness is tracked on a spreadsheet.</a:t>
            </a:r>
          </a:p>
          <a:p/>
          <a:p>
            <a:r>
              <a:t>Step 4 — Payroll &amp; Benefits: This is the most error-prone step. Data already entered in JD Edwards must be re-entered in Paycon. Standard benefits are manually configured.</a:t>
            </a:r>
          </a:p>
          <a:p/>
          <a:p>
            <a:r>
              <a:t>Step 5 — IT Provisioning: IT receives a request (often by email) and manually creates accounts, assigns licences in Microsoft 365, and orders equipment.</a:t>
            </a:r>
          </a:p>
          <a:p/>
          <a:p>
            <a:r>
              <a:t>Step 6 — Training: HR manually sends calendar invites and LMS enrolment links.</a:t>
            </a:r>
          </a:p>
          <a:p/>
          <a:p>
            <a:r>
              <a:t>Step 7 — Follow-Up: HR checks in with the new hire on day one to confirm everything worked. This is a catch-all for anything that fell through the cracks.</a:t>
            </a:r>
          </a:p>
          <a:p/>
          <a:p>
            <a:r>
              <a:t>The key insight: Steps 2, 3, 4, and 5 are prime automation targets — all involve structured data and repeat actions.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Systems &amp; Pain Points</a:t>
            </a:r>
          </a:p>
          <a:p/>
          <a:p>
            <a:r>
              <a:t>This slide maps the four key systems involved and the pain points they create together.</a:t>
            </a:r>
          </a:p>
          <a:p/>
          <a:p>
            <a:r>
              <a:t>Systems overview:</a:t>
            </a:r>
          </a:p>
          <a:p>
            <a:r>
              <a:t>- JD Edwards is the central HRIS/ERP — source of record for employee data.</a:t>
            </a:r>
          </a:p>
          <a:p>
            <a:r>
              <a:t>- Paycon is the payroll system — requires its own separate data entry.</a:t>
            </a:r>
          </a:p>
          <a:p>
            <a:r>
              <a:t>- Microsoft 365 handles email provisioning, licences, and Teams/SharePoint access.</a:t>
            </a:r>
          </a:p>
          <a:p>
            <a:r>
              <a:t>- SharePoint/OneDrive is used for document storage and HR file management.</a:t>
            </a:r>
          </a:p>
          <a:p/>
          <a:p>
            <a:r>
              <a:t>The critical problem: NONE of these four systems natively communicate with each other. Every data transfer requires a human to copy information from one screen and paste it into another.</a:t>
            </a:r>
          </a:p>
          <a:p/>
          <a:p>
            <a:r>
              <a:t>Pain points to emphasise:</a:t>
            </a:r>
          </a:p>
          <a:p>
            <a:r>
              <a:t>- The double/triple entry problem is the single biggest time sink.</a:t>
            </a:r>
          </a:p>
          <a:p>
            <a:r>
              <a:t>- The 5–10% payroll error rate has real financial and compliance consequences.</a:t>
            </a:r>
          </a:p>
          <a:p>
            <a:r>
              <a:t>- Document completeness tracking via email means things fall through the cracks regularly.</a:t>
            </a:r>
          </a:p>
          <a:p>
            <a:r>
              <a:t>- No integration means each system has to be separately maintained and manually synchronised.</a:t>
            </a:r>
          </a:p>
          <a:p/>
          <a:p>
            <a:r>
              <a:t>This combination of high volume + manual handoffs + no integration = perfect RPA use case.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Use Case Evaluation</a:t>
            </a:r>
          </a:p>
          <a:p/>
          <a:p>
            <a:r>
              <a:t>This is the core recommendation slide. Spend adequate time here.</a:t>
            </a:r>
          </a:p>
          <a:p/>
          <a:p>
            <a:r>
              <a:t>Why Hybrid RPA?</a:t>
            </a:r>
          </a:p>
          <a:p>
            <a:r>
              <a:t>- Pure unattended would fail on edge cases: visa workers, custom benefits, non-standard contracts.</a:t>
            </a:r>
          </a:p>
          <a:p>
            <a:r>
              <a:t>- Pure attended would miss the efficiency gains from automating the 80% of standard, routine hires.</a:t>
            </a:r>
          </a:p>
          <a:p>
            <a:r>
              <a:t>- Hybrid gives us the best of both: speed at scale + control for exceptions.</a:t>
            </a:r>
          </a:p>
          <a:p/>
          <a:p>
            <a:r>
              <a:t>Unattended side — these are the tasks that run automatically, triggered when a new hire record is created:</a:t>
            </a:r>
          </a:p>
          <a:p>
            <a:r>
              <a:t>- JD Edwards data entry (highest value automation target)</a:t>
            </a:r>
          </a:p>
          <a:p>
            <a:r>
              <a:t>- Paycon payroll setup</a:t>
            </a:r>
          </a:p>
          <a:p>
            <a:r>
              <a:t>- M365 account creation</a:t>
            </a:r>
          </a:p>
          <a:p>
            <a:r>
              <a:t>- SharePoint document upload and filing</a:t>
            </a:r>
          </a:p>
          <a:p>
            <a:r>
              <a:t>- Benefits enrolment for standard packages</a:t>
            </a:r>
          </a:p>
          <a:p>
            <a:r>
              <a:t>- IT provisioning request</a:t>
            </a:r>
          </a:p>
          <a:p/>
          <a:p>
            <a:r>
              <a:t>Attended side — the bot assists HR but requires a human click to proceed:</a:t>
            </a:r>
          </a:p>
          <a:p>
            <a:r>
              <a:t>- Visa and work permit cases (legal complexity)</a:t>
            </a:r>
          </a:p>
          <a:p>
            <a:r>
              <a:t>- Non-standard benefits (executive packages, custom agreements)</a:t>
            </a:r>
          </a:p>
          <a:p>
            <a:r>
              <a:t>- Any data quality flags raised by the bot during processing</a:t>
            </a:r>
          </a:p>
          <a:p/>
          <a:p>
            <a:r>
              <a:t>Key selling point: the 80/20 split — roughly 80% of hires are standard and can be fully unattended. Only 20% need attended intervention. That's where the 70–80% effort reduction comes from.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— Implementation Plan</a:t>
            </a:r>
          </a:p>
          <a:p/>
          <a:p>
            <a:r>
              <a:t>This slide outlines what to automate first and what tools to use.</a:t>
            </a:r>
          </a:p>
          <a:p/>
          <a:p>
            <a:r>
              <a:t>Priority order rationale:</a:t>
            </a:r>
          </a:p>
          <a:p>
            <a:r>
              <a:t>1. JD Edwards data entry — highest frequency, highest manual effort, most downstream impact</a:t>
            </a:r>
          </a:p>
          <a:p>
            <a:r>
              <a:t>2. M365 account creation — fully scriptable via Microsoft Graph API, low risk, fast win</a:t>
            </a:r>
          </a:p>
          <a:p>
            <a:r>
              <a:t>3. SharePoint uploads — structured process, API available, directly improves compliance</a:t>
            </a:r>
          </a:p>
          <a:p>
            <a:r>
              <a:t>4. Paycon payroll setup — highest accuracy impact; should be done after JD Edwards data is validated</a:t>
            </a:r>
          </a:p>
          <a:p/>
          <a:p>
            <a:r>
              <a:t>Tools discussion:</a:t>
            </a:r>
          </a:p>
          <a:p>
            <a:r>
              <a:t>- UiPath is the most feature-rich for enterprise deployments with complex exception handling</a:t>
            </a:r>
          </a:p>
          <a:p>
            <a:r>
              <a:t>- Power Automate integrates natively with Microsoft 365 — ideal for M365 and SharePoint tasks</a:t>
            </a:r>
          </a:p>
          <a:p>
            <a:r>
              <a:t>- Blue Prism or Automation Anywhere if the organisation already has one licensed</a:t>
            </a:r>
          </a:p>
          <a:p>
            <a:r>
              <a:t>- The best approach may be a hybrid of Power Automate (for Microsoft stack) + UiPath (for JD Edwards/Paycon)</a:t>
            </a:r>
          </a:p>
          <a:p/>
          <a:p>
            <a:r>
              <a:t>Challenges to flag:</a:t>
            </a:r>
          </a:p>
          <a:p>
            <a:r>
              <a:t>- JD Edwards API availability is the biggest technical risk — if API access is limited, screen scraping increases maintenance burden significantly</a:t>
            </a:r>
          </a:p>
          <a:p>
            <a:r>
              <a:t>- PII handling requires encryption in transit, access controls on bot credentials, and audit logging</a:t>
            </a:r>
          </a:p>
          <a:p>
            <a:r>
              <a:t>- Change management is often underestimated — HR teams need training and trust-building before adopting attended bots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— Projected Benefits</a:t>
            </a:r>
          </a:p>
          <a:p/>
          <a:p>
            <a:r>
              <a:t>Walk through each row in the table.</a:t>
            </a:r>
          </a:p>
          <a:p/>
          <a:p>
            <a:r>
              <a:t>Row 1 — Time per hire: Currently 4–6 hours. After automation, reduced to 1–2 hours (the remaining time is for attended exception handling and human review). That's a 65–75% reduction in direct HR time per hire.</a:t>
            </a:r>
          </a:p>
          <a:p/>
          <a:p>
            <a:r>
              <a:t>Row 2 — Error rate: The 5–10% payroll/HRIS error rate drops to under 1% because bots don't transpose digits or skip fields. This has real payroll compliance implications.</a:t>
            </a:r>
          </a:p>
          <a:p/>
          <a:p>
            <a:r>
              <a:t>Row 3 — Weekly hours: At 50 hires per week, current manual effort is 250–300 hours of HR staff time. After automation: 50–75 hours. That's 3–4 full-time equivalents freed up each week.</a:t>
            </a:r>
          </a:p>
          <a:p/>
          <a:p>
            <a:r>
              <a:t>Row 4 — Document completeness: The automated checklist validation brings completeness from ~75% to over 95% — a major compliance improvement.</a:t>
            </a:r>
          </a:p>
          <a:p/>
          <a:p>
            <a:r>
              <a:t>Row 5 — Time-to-productivity: New hires get system access faster, meaning they can start doing actual work 2–3 days sooner.</a:t>
            </a:r>
          </a:p>
          <a:p/>
          <a:p>
            <a:r>
              <a:t>Row 6 — Cost: Harder to quantify precisely, but the FTE time savings translate directly to labour cost avoidance, plus reduced cost-of-errors in payroll.</a:t>
            </a:r>
          </a:p>
          <a:p/>
          <a:p>
            <a:r>
              <a:t>Bottom line (read the summary bar): 70–80% effort reduction, near-zero error rate, faster onboarding.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— Visual Chart</a:t>
            </a:r>
          </a:p>
          <a:p/>
          <a:p>
            <a:r>
              <a:t>This slide provides a visual summary of the three most important benefit metrics.</a:t>
            </a:r>
          </a:p>
          <a:p/>
          <a:p>
            <a:r>
              <a:t>Chart 1 — Time per hire:</a:t>
            </a:r>
          </a:p>
          <a:p>
            <a:r>
              <a:t>- Before: average 5 hours per hire</a:t>
            </a:r>
          </a:p>
          <a:p>
            <a:r>
              <a:t>- After: average 1.5 hours (attended exception handling remains)</a:t>
            </a:r>
          </a:p>
          <a:p>
            <a:r>
              <a:t>- Reduction: ~70%</a:t>
            </a:r>
          </a:p>
          <a:p/>
          <a:p>
            <a:r>
              <a:t>Chart 2 — Payroll error rate:</a:t>
            </a:r>
          </a:p>
          <a:p>
            <a:r>
              <a:t>- Before: 7.5% average error rate</a:t>
            </a:r>
          </a:p>
          <a:p>
            <a:r>
              <a:t>- After: 0.8% (residual manual attended steps)</a:t>
            </a:r>
          </a:p>
          <a:p>
            <a:r>
              <a:t>- Reduction: ~90% — this is the highest-impact quality improvement</a:t>
            </a:r>
          </a:p>
          <a:p/>
          <a:p>
            <a:r>
              <a:t>Chart 3 — Weekly HR hours (at 50 hires/week):</a:t>
            </a:r>
          </a:p>
          <a:p>
            <a:r>
              <a:t>- Before: ~275 hours per week</a:t>
            </a:r>
          </a:p>
          <a:p>
            <a:r>
              <a:t>- After: ~63 hours per week</a:t>
            </a:r>
          </a:p>
          <a:p>
            <a:r>
              <a:t>- Reduction: ~77%</a:t>
            </a:r>
          </a:p>
          <a:p/>
          <a:p>
            <a:r>
              <a:t>All three charts tell the same story: automation does not just improve speed — it fundamentally changes the scale at which HR can operate without adding headcount.</a:t>
            </a:r>
          </a:p>
          <a:p/>
          <a:p>
            <a:r>
              <a:t>Refer audience back to the full interactive website (GitHub link on next slide) where these charts are rendered as live Chart.js visualisations with hover tooltips.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— Summary &amp; Closing</a:t>
            </a:r>
          </a:p>
          <a:p/>
          <a:p>
            <a:r>
              <a:t>This is the closing slide. Summarise the five key takeaways and direct the audience to the GitHub repo.</a:t>
            </a:r>
          </a:p>
          <a:p/>
          <a:p>
            <a:r>
              <a:t>Takeaway walkthrough:</a:t>
            </a:r>
          </a:p>
          <a:p>
            <a:r>
              <a:t>1. Hybrid RPA — not all-or-nothing. The hybrid model is the right approach because it respects the complexity of HR work while maximising automation where rules are clear.</a:t>
            </a:r>
          </a:p>
          <a:p>
            <a:r>
              <a:t>2. 70–80% effort reduction — the headline number. This is conservative and based on the 80% standard hire / 20% exception split assumption.</a:t>
            </a:r>
          </a:p>
          <a:p>
            <a:r>
              <a:t>3. Sub-1% error rate — automation doesn't get tired, doesn't transpose numbers, doesn't skip fields. The quality improvement is arguably more important than the time saving for payroll compliance.</a:t>
            </a:r>
          </a:p>
          <a:p>
            <a:r>
              <a:t>4. Faster onboarding — employee experience matters. A new hire who has email and system access on Day 1 has a fundamentally better experience.</a:t>
            </a:r>
          </a:p>
          <a:p>
            <a:r>
              <a:t>5. Multi-system bridge — this is the architectural insight: RPA doesn't replace any of the existing systems, it just removes the human from the data handoff between them.</a:t>
            </a:r>
          </a:p>
          <a:p/>
          <a:p>
            <a:r>
              <a:t>GitHub link:</a:t>
            </a:r>
          </a:p>
          <a:p>
            <a:r>
              <a:t>- All files are publicly available at the link shown</a:t>
            </a:r>
          </a:p>
          <a:p>
            <a:r>
              <a:t>- The HTML website includes live Chart.js visualisations with full interactivity</a:t>
            </a:r>
          </a:p>
          <a:p>
            <a:r>
              <a:t>- README.pdf is the formatted version of this documentation</a:t>
            </a:r>
          </a:p>
          <a:p/>
          <a:p>
            <a:r>
              <a:t>Thank the audience and invite questions.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1A3A5C"/>
              </a:gs>
              <a:gs pos="100000">
                <a:srgbClr val="0D7ECF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1097280"/>
            <a:ext cx="3657600" cy="3657600"/>
          </a:xfrm>
          <a:prstGeom prst="ellipse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463040"/>
            <a:ext cx="2926080" cy="347472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1481328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RPA USE CASE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Employee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9748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B4D8"/>
                </a:solidFill>
              </a:rPr>
              <a:t>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E5FF"/>
                </a:solidFill>
              </a:rPr>
              <a:t>A Hybrid RPA Use Case Analysis for HR Operations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4572000"/>
            <a:ext cx="2834640" cy="594360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459028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9CCFF"/>
                </a:solidFill>
              </a:rPr>
              <a:t>COURSE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47914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Robotic Process Automation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4572000"/>
            <a:ext cx="2834640" cy="594360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24528" y="459028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9CCFF"/>
                </a:solidFill>
              </a:rPr>
              <a:t>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47914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No. 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572000"/>
            <a:ext cx="2834640" cy="594360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4590288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9CCFF"/>
                </a:solidFill>
              </a:rPr>
              <a:t>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4791456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March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B4D8"/>
                </a:solidFill>
              </a:rPr>
              <a:t>🔗  github.com/omais-eng/Course-Robotic-Process-Automation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7315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5564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7556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Why HR onboarding suits RPA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94436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9443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Business 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7-step onboarding workflow &amp; systems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13308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133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Pain 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Where manual effort breaks down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32180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3218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212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Use Case 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623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Hybrid RPA recommendation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155448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01968" y="175564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17556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Implementation Plan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804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Tools, priorities &amp; challenges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74320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01968" y="294436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1968" y="29443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Projected Benefits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246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Quantified time &amp; error savings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3931920"/>
            <a:ext cx="5486400" cy="1005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601968" y="413308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4133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023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Summary &amp; GitHub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Key takeaways and resources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Why HR Onboarding is a Prime RPA 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217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vl="1">
              <a:spcAft>
                <a:spcPts val="1000"/>
              </a:spcAft>
            </a:pPr>
            <a:r>
              <a:rPr sz="1300" b="0">
                <a:solidFill>
                  <a:srgbClr val="1E2A38"/>
                </a:solidFill>
              </a:rPr>
              <a:t>• Each new hire triggers a cascade of coordinated tasks across HR, IT, Payroll and Compliance.</a:t>
            </a:r>
          </a:p>
          <a:p>
            <a:pPr algn="l" lvl="1">
              <a:spcAft>
                <a:spcPts val="1000"/>
              </a:spcAft>
            </a:pPr>
            <a:r>
              <a:rPr sz="1300" b="0">
                <a:solidFill>
                  <a:srgbClr val="1E2A38"/>
                </a:solidFill>
              </a:rPr>
              <a:t>• The same employee data is manually re-entered into multiple disconnected systems.</a:t>
            </a:r>
          </a:p>
          <a:p>
            <a:pPr algn="l" lvl="1">
              <a:spcAft>
                <a:spcPts val="1000"/>
              </a:spcAft>
            </a:pPr>
            <a:r>
              <a:rPr sz="1300" b="0">
                <a:solidFill>
                  <a:srgbClr val="1E2A38"/>
                </a:solidFill>
              </a:rPr>
              <a:t>• Onboarding is high-volume, rule-based, and structured — ideal for automation.</a:t>
            </a:r>
          </a:p>
          <a:p>
            <a:pPr algn="l" lvl="1">
              <a:spcAft>
                <a:spcPts val="1000"/>
              </a:spcAft>
            </a:pPr>
            <a:r>
              <a:rPr sz="1300" b="0">
                <a:solidFill>
                  <a:srgbClr val="1E2A38"/>
                </a:solidFill>
              </a:rPr>
              <a:t>• Manual execution leads to delays, errors, and a poor first-day experience for new hires.</a:t>
            </a:r>
          </a:p>
          <a:p>
            <a:pPr algn="l" lvl="1">
              <a:spcAft>
                <a:spcPts val="1000"/>
              </a:spcAft>
            </a:pPr>
            <a:r>
              <a:rPr sz="1300" b="0">
                <a:solidFill>
                  <a:srgbClr val="1E2A38"/>
                </a:solidFill>
              </a:rPr>
              <a:t>• RPA can handle repetitive data tasks while keeping humans in the loop for exceptions.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4480560" cy="132588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173736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4–6 hrs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3774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Manual effort per hire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3063240"/>
            <a:ext cx="4480560" cy="13258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324612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5–10%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8862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Payroll error rate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572000"/>
            <a:ext cx="4480560" cy="1325880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754880"/>
            <a:ext cx="4480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250–300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39496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E5FF"/>
                </a:solidFill>
              </a:rPr>
              <a:t>HR hrs/week (50 hires)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Business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End-to-End Onboarding Workflow — 7 Steps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618488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2064" y="1618488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618488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160020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Job Offer &amp; Acceptance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152" y="19842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HR sends offer via JD Edwards; candidate confirms.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2880360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2880360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8036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86207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Pre-Onboarding Setup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152" y="32461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Collect personal info, assign email &amp; credentials.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4142232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4142232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142232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412394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Document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16152" y="450799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Upload docs to SharePoint; verify completeness.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5404104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5404104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404104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6152" y="538581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Payroll &amp; Benefits Setup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576986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Enter details into Paycon; enrol in benefits.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36792" y="1618488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01384" y="1618488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1618488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5472" y="160020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IT &amp; Equipment Provisioning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19842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Request laptop/phone; assign software access.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36792" y="2880360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1384" y="2880360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1384" y="288036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05472" y="286207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Orientation &amp; Training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05472" y="3246120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Schedule sessions; assign LMS pathways.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36792" y="4142232"/>
            <a:ext cx="73152" cy="82296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01384" y="4142232"/>
            <a:ext cx="566928" cy="566928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01384" y="4142232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05472" y="412394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First-Day Follow-Up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05472" y="450799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E"/>
                </a:solidFill>
              </a:rPr>
              <a:t>Confirm system access; close checklist.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Systems &amp; Pain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Disconnected Systems → Manual Bridges → Errors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508760"/>
            <a:ext cx="2743200" cy="914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72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JD Edwards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659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FF"/>
                </a:solidFill>
              </a:rPr>
              <a:t>HRIS / ERP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508760"/>
            <a:ext cx="2743200" cy="9144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1572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Paycon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19659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FF"/>
                </a:solidFill>
              </a:rPr>
              <a:t>Payroll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508760"/>
            <a:ext cx="2743200" cy="914400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1572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Microsoft 365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19659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FF"/>
                </a:solidFill>
              </a:rPr>
              <a:t>Email &amp;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5712" y="1508760"/>
            <a:ext cx="2743200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5712" y="15727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SharePoint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19659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E5FF"/>
                </a:solidFill>
              </a:rPr>
              <a:t>Document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17373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A7E"/>
                </a:solidFill>
              </a:rPr>
              <a:t>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17373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A7E"/>
                </a:solidFill>
              </a:rPr>
              <a:t>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17373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A6A7E"/>
                </a:solidFill>
              </a:rPr>
              <a:t>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" y="26060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7C00"/>
                </a:solidFill>
              </a:rPr>
              <a:t>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26060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Manual data re-entry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260604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Same employee data typed into 3+ separate systems — no automation bridge.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" y="3374136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7C00"/>
                </a:solidFill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337413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Time-consuming setup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374136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4–6 hours of HR effort per hire; setup delays new employee start dates.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414223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</a:rPr>
              <a:t>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14223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Payroll errors (5–10%)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4142232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Manual Paycon entry causes compensation, tax, and benefits mistakes.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491032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C2626"/>
                </a:solidFill>
              </a:rPr>
              <a:t>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91032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Document tracking via email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4910328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Completeness monitoring is ad hoc — documents get missed.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" y="5678424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57C00"/>
                </a:solidFill>
              </a:rPr>
              <a:t>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67842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No native integration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5678424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JD Edwards, Paycon, and M365 require manual handoffs between each.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Use Case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Recommendation: Hybrid RPA — Unattended + Attended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554480"/>
            <a:ext cx="5394960" cy="4160520"/>
          </a:xfrm>
          <a:prstGeom prst="rect">
            <a:avLst/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🤖  Unattended Automation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A7E"/>
                </a:solidFill>
              </a:rPr>
              <a:t>Runs without HR input — handles standard, high-volume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51206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Upload employee data to JD Edwards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Enter payroll details into Paycon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Create Microsoft 365 accounts &amp; assign licences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Upload &amp; organise documents in SharePoint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Generate standard payroll / benefits entries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Trigger IT provisioning requests automatically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554480"/>
            <a:ext cx="5852160" cy="416052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6459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2400E"/>
                </a:solidFill>
              </a:rPr>
              <a:t>👤  Attended Automation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0116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A7E"/>
                </a:solidFill>
              </a:rPr>
              <a:t>HR-assisted — handles exceptions requiring human judgement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377440"/>
            <a:ext cx="5577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Review flagged exceptions (visa/contract workers)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Approve custom or non-standard benefits packages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Adjust data anomalies detected by bots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Handle edge-case or non-standard documents</a:t>
            </a:r>
          </a:p>
          <a:p>
            <a:pPr algn="l" lvl="1">
              <a:spcAft>
                <a:spcPts val="700"/>
              </a:spcAft>
            </a:pPr>
            <a:r>
              <a:rPr sz="1200" b="0">
                <a:solidFill>
                  <a:srgbClr val="1E2A38"/>
                </a:solidFill>
              </a:rPr>
              <a:t>• Compliance-sensitive sign-off steps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5870448"/>
            <a:ext cx="11494008" cy="658368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92531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32D"/>
                </a:solidFill>
              </a:rPr>
              <a:t>✅  Justification: High volume of standard hires → unattended saves time. Special cases require attended steps. Well-defined rules reduce implementation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Implementation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Priority Targets · Tools · Challenges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66420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66420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6184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JD Edwards Data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659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A7E"/>
                </a:solidFill>
              </a:rPr>
              <a:t>Highest volume; automate transfer of all new hire data.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48716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24871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4144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M365 Account Creation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889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A7E"/>
                </a:solidFill>
              </a:rPr>
              <a:t>Bot provisions email, licence, and security groups by role.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331012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33101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26440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SharePoint Doc Upload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6118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A7E"/>
                </a:solidFill>
              </a:rPr>
              <a:t>Auto-sort, name, upload docs with completeness check.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4133088"/>
            <a:ext cx="457200" cy="4572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41330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0873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A5C"/>
                </a:solidFill>
              </a:rPr>
              <a:t>Paycon Payroll Setup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4348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A7E"/>
                </a:solidFill>
              </a:rPr>
              <a:t>Replicate validated data; configure standard benefits.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1508760"/>
            <a:ext cx="32004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6048" y="15727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RPA Platforms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19385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▸  UiPath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4086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▸  Automation Anywhere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274320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▸  Blue Prism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3480" y="314553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A38"/>
                </a:solidFill>
              </a:rPr>
              <a:t>▸  Power Automate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5029200"/>
            <a:ext cx="320040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51023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A5C"/>
                </a:solidFill>
              </a:rPr>
              <a:t>Integration Methods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3480" y="5468112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8"/>
                </a:solidFill>
              </a:rPr>
              <a:t>▸  JD Edwards REST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5815584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8"/>
                </a:solidFill>
              </a:rPr>
              <a:t>▸  MS Graph API (M365)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6163056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8"/>
                </a:solidFill>
              </a:rPr>
              <a:t>▸  SharePoint Connector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1508760"/>
            <a:ext cx="3566160" cy="4983480"/>
          </a:xfrm>
          <a:prstGeom prst="rect">
            <a:avLst/>
          </a:prstGeom>
          <a:solidFill>
            <a:srgbClr val="FF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15727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</a:rPr>
              <a:t>⚠  Key Challenges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1993392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8"/>
                </a:solidFill>
              </a:rPr>
              <a:t>• Exception handling for non-standard hire types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2761488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8"/>
                </a:solidFill>
              </a:rPr>
              <a:t>• JD Edwards API limits → may need screen scraping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3529584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8"/>
                </a:solidFill>
              </a:rPr>
              <a:t>• PII data security across automated flows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297680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8"/>
                </a:solidFill>
              </a:rPr>
              <a:t>• Inconsistent SharePoint permission structures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5065776"/>
            <a:ext cx="3337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E2A38"/>
                </a:solidFill>
              </a:rPr>
              <a:t>• HR change management &amp; adoption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Projected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Before vs. After Automation — Quantified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572768"/>
            <a:ext cx="3419856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572768"/>
            <a:ext cx="34198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8768" y="1572768"/>
            <a:ext cx="1956816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58768" y="1572768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Before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7024" y="1572768"/>
            <a:ext cx="1956816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7024" y="1572768"/>
            <a:ext cx="19568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After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9" y="1572768"/>
            <a:ext cx="2231136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72768"/>
            <a:ext cx="223113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Improvement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057400"/>
            <a:ext cx="341985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16712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8"/>
                </a:solidFill>
              </a:rPr>
              <a:t>Time per hire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58768" y="2057400"/>
            <a:ext cx="195681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0208" y="216712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4–6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07024" y="2057400"/>
            <a:ext cx="195681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98464" y="216712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1–2 hours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55279" y="2057400"/>
            <a:ext cx="22311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21671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D7ECF"/>
                </a:solidFill>
              </a:rPr>
              <a:t>~65–75% faster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734056"/>
            <a:ext cx="341985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84378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8"/>
                </a:solidFill>
              </a:rPr>
              <a:t>Payroll/HRIS error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58768" y="2734056"/>
            <a:ext cx="195681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50208" y="284378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5–10%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07024" y="2734056"/>
            <a:ext cx="195681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98464" y="2843784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&lt;1%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55279" y="2734056"/>
            <a:ext cx="223113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19" y="2843784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D7ECF"/>
                </a:solidFill>
              </a:rPr>
              <a:t>~90% reduction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3410712"/>
            <a:ext cx="341985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520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8"/>
                </a:solidFill>
              </a:rPr>
              <a:t>Weekly HR hours (50 hires)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58768" y="3410712"/>
            <a:ext cx="195681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0208" y="3520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250–300 hrs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07024" y="3410712"/>
            <a:ext cx="195681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98464" y="3520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50–75 hrs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3410712"/>
            <a:ext cx="22311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46719" y="3520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D7ECF"/>
                </a:solidFill>
              </a:rPr>
              <a:t>~75–80% savings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4087368"/>
            <a:ext cx="341985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419709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8"/>
                </a:solidFill>
              </a:rPr>
              <a:t>Document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58768" y="4087368"/>
            <a:ext cx="195681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50208" y="419709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70–80%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07024" y="4087368"/>
            <a:ext cx="195681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98464" y="419709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&gt;95%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55279" y="4087368"/>
            <a:ext cx="223113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19" y="419709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D7ECF"/>
                </a:solidFill>
              </a:rPr>
              <a:t>Compliance gain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4764024"/>
            <a:ext cx="341985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87375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8"/>
                </a:solidFill>
              </a:rPr>
              <a:t>Time-to-productivity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58768" y="4764024"/>
            <a:ext cx="195681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50208" y="48737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3–5 days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07024" y="4764024"/>
            <a:ext cx="195681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98464" y="48737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1–2 days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4764024"/>
            <a:ext cx="2231136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19" y="4873752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D7ECF"/>
                </a:solidFill>
              </a:rPr>
              <a:t>Faster ramp-up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5440680"/>
            <a:ext cx="341985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55040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E2A38"/>
                </a:solidFill>
              </a:rPr>
              <a:t>Resource cost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58768" y="5440680"/>
            <a:ext cx="195681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50208" y="55504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DC2626"/>
                </a:solidFill>
              </a:rPr>
              <a:t>High manual 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07024" y="5440680"/>
            <a:ext cx="195681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98464" y="55504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6A34A"/>
                </a:solidFill>
              </a:rPr>
              <a:t>Reduced FTE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79" y="5440680"/>
            <a:ext cx="2231136" cy="621792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9" y="555040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0D7ECF"/>
                </a:solidFill>
              </a:rPr>
              <a:t>Cost avoidance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47472" y="6199632"/>
            <a:ext cx="11494008" cy="41148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62362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4532D"/>
                </a:solidFill>
              </a:rPr>
              <a:t>✅  Hybrid RPA reduces manual effort by 70–80%, brings error rates below 1%, and accelerates new hire readiness from days to hours.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7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Benefits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467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B4D8"/>
                </a:solidFill>
              </a:rPr>
              <a:t>Visual Comparison — Before (red) vs. After (green)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3A5C"/>
                </a:solidFill>
              </a:rPr>
              <a:t>Time Per Hire (hours)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164080"/>
            <a:ext cx="640080" cy="30480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8440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</a:rPr>
              <a:t>5.0h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A38"/>
                </a:solidFill>
              </a:rPr>
              <a:t>Before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4297680"/>
            <a:ext cx="640080" cy="914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39776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</a:rPr>
              <a:t>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A38"/>
                </a:solidFill>
              </a:rPr>
              <a:t>After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25880" y="1554480"/>
            <a:ext cx="36576" cy="3657600"/>
          </a:xfrm>
          <a:prstGeom prst="rect">
            <a:avLst/>
          </a:prstGeom>
          <a:solidFill>
            <a:srgbClr val="5A6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25880" y="5212080"/>
            <a:ext cx="2286000" cy="36576"/>
          </a:xfrm>
          <a:prstGeom prst="rect">
            <a:avLst/>
          </a:prstGeom>
          <a:solidFill>
            <a:srgbClr val="5A6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2344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3A5C"/>
                </a:solidFill>
              </a:rPr>
              <a:t>Payroll Error Rate (%)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2468880"/>
            <a:ext cx="640080" cy="2743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1488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</a:rPr>
              <a:t>7.5%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A38"/>
                </a:solidFill>
              </a:rPr>
              <a:t>Before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4919472"/>
            <a:ext cx="640080" cy="29260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459943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</a:rPr>
              <a:t>0.8%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A38"/>
                </a:solidFill>
              </a:rPr>
              <a:t>After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5A6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00600" y="5212080"/>
            <a:ext cx="2286000" cy="36576"/>
          </a:xfrm>
          <a:prstGeom prst="rect">
            <a:avLst/>
          </a:prstGeom>
          <a:solidFill>
            <a:srgbClr val="5A6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12344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3A5C"/>
                </a:solidFill>
              </a:rPr>
              <a:t>Weekly HR Hours (÷10)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859280"/>
            <a:ext cx="640080" cy="3352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539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</a:rPr>
              <a:t>275h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A38"/>
                </a:solidFill>
              </a:rPr>
              <a:t>Before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4450080"/>
            <a:ext cx="640080" cy="762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0" y="41300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</a:rPr>
              <a:t>63h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5257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A38"/>
                </a:solidFill>
              </a:rPr>
              <a:t>After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1554480"/>
            <a:ext cx="36576" cy="3657600"/>
          </a:xfrm>
          <a:prstGeom prst="rect">
            <a:avLst/>
          </a:prstGeom>
          <a:solidFill>
            <a:srgbClr val="5A6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75320" y="5212080"/>
            <a:ext cx="2286000" cy="36576"/>
          </a:xfrm>
          <a:prstGeom prst="rect">
            <a:avLst/>
          </a:prstGeom>
          <a:solidFill>
            <a:srgbClr val="5A6A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0" y="5943600"/>
            <a:ext cx="201168" cy="20116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59253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8"/>
                </a:solidFill>
              </a:rPr>
              <a:t>Before Automation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5943600"/>
            <a:ext cx="201168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0" y="59253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A38"/>
                </a:solidFill>
              </a:rPr>
              <a:t>After Automation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1A3A5C"/>
              </a:gs>
              <a:gs pos="100000">
                <a:srgbClr val="0D7ECF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36192"/>
            <a:ext cx="54864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5331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🔄  Hybrid RPA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190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5FF"/>
                </a:solidFill>
              </a:rPr>
              <a:t>Combines unattended efficiency with attended exception control.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95728"/>
            <a:ext cx="54864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1284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⏱  70–80% Less Effort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786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5FF"/>
                </a:solidFill>
              </a:rPr>
              <a:t>Per-hire HR time drops from 4–6 hrs to 1–2 hrs.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255264"/>
            <a:ext cx="54864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07238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✅  &lt;1% Error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381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5FF"/>
                </a:solidFill>
              </a:rPr>
              <a:t>Automated data entry virtually eliminates payroll mistakes.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114800"/>
            <a:ext cx="54864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🚀  Faster Onboarding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97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5FF"/>
                </a:solidFill>
              </a:rPr>
              <a:t>New hires reach productivity 2–3 days sooner.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974336"/>
            <a:ext cx="54864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79145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🔗  Multi-System Bridge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572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E5FF"/>
                </a:solidFill>
              </a:rPr>
              <a:t>RPA connects JD Edwards, Paycon, M365 and SharePoint.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280160"/>
            <a:ext cx="5212080" cy="3931920"/>
          </a:xfrm>
          <a:prstGeom prst="rect">
            <a:avLst/>
          </a:prstGeom>
          <a:solidFill>
            <a:srgbClr val="0D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1417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📁  Full Deliverable on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1874519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github.com/omais-eng/
Course-Robotic-Process-Automation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743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Includes: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0632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5FF"/>
                </a:solidFill>
              </a:rPr>
              <a:t>▸  rpa-onboarding.html — interactive website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4472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5FF"/>
                </a:solidFill>
              </a:rPr>
              <a:t>▸  README.md — full documentation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83133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E5FF"/>
                </a:solidFill>
              </a:rPr>
              <a:t>▸  README.pdf — formatted PDF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355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9BBDD"/>
                </a:solidFill>
              </a:rPr>
              <a:t>Course: Robotic Process Automation  ·  Assignment No. 01  ·  March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