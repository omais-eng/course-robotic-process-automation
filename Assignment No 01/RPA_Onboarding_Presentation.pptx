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 — Title Slide</a:t>
            </a:r>
          </a:p>
          <a:p/>
          <a:p>
            <a:r>
              <a:t>Welcome everyone. This presentation covers Assignment No. 01 for the Robotic Process Automation course.</a:t>
            </a:r>
          </a:p>
          <a:p/>
          <a:p>
            <a:r>
              <a:t>The topic is Employee Onboarding Automation — a real-world HR process that has been evaluated as a strong candidate for hybrid RPA implementation.</a:t>
            </a:r>
          </a:p>
          <a:p/>
          <a:p>
            <a:r>
              <a:t>The full interactive website and all supporting files are available on GitHub at the link shown on screen.</a:t>
            </a:r>
          </a:p>
          <a:p/>
          <a:p>
            <a:r>
              <a:t>Key points to mention:</a:t>
            </a:r>
          </a:p>
          <a:p>
            <a:r>
              <a:t>- HR onboarding is a high-volume, rule-based process that spans multiple systems</a:t>
            </a:r>
          </a:p>
          <a:p>
            <a:r>
              <a:t>- The goal is to identify where RPA can reduce manual effort, errors, and cycle time</a:t>
            </a:r>
          </a:p>
          <a:p>
            <a:r>
              <a:t>- We recommend a Hybrid RPA model combining unattended and attended automation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2 — Agenda</a:t>
            </a:r>
          </a:p>
          <a:p/>
          <a:p>
            <a:r>
              <a:t>Walk the audience through the structure of the presentation before diving in.</a:t>
            </a:r>
          </a:p>
          <a:p/>
          <a:p>
            <a:r>
              <a:t>This presentation is organised into 7 sections:</a:t>
            </a:r>
          </a:p>
          <a:p>
            <a:r>
              <a:t>1. Introduction — context on why onboarding is a good fit for RPA</a:t>
            </a:r>
          </a:p>
          <a:p>
            <a:r>
              <a:t>2. Business Process — the detailed 7-step onboarding workflow</a:t>
            </a:r>
          </a:p>
          <a:p>
            <a:r>
              <a:t>3. Pain Points — specific manual bottlenecks we identified</a:t>
            </a:r>
          </a:p>
          <a:p>
            <a:r>
              <a:t>4. Use Case Evaluation — our recommendation for Hybrid RPA and the justification</a:t>
            </a:r>
          </a:p>
          <a:p>
            <a:r>
              <a:t>5. Implementation Plan — which tasks to automate first, which tools to use</a:t>
            </a:r>
          </a:p>
          <a:p>
            <a:r>
              <a:t>6. Projected Benefits — quantified before/after comparison</a:t>
            </a:r>
          </a:p>
          <a:p>
            <a:r>
              <a:t>7. Summary — key takeaways and links to the full deliverable on GitHub</a:t>
            </a:r>
          </a:p>
          <a:p/>
          <a:p>
            <a:r>
              <a:t>Total presentation is 10 slides. Estimated speaking time: 8–12 minutes.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3 — Introduction</a:t>
            </a:r>
          </a:p>
          <a:p/>
          <a:p>
            <a:r>
              <a:t>Key message: Onboarding isn't just slow — it's structurally broken for manual execution.</a:t>
            </a:r>
          </a:p>
          <a:p/>
          <a:p>
            <a:r>
              <a:t>Talking points:</a:t>
            </a:r>
          </a:p>
          <a:p>
            <a:r>
              <a:t>- Every new hire requires data entry in JD Edwards (HRIS), Paycon (payroll), AND Microsoft 365 — three separate systems with no native integration.</a:t>
            </a:r>
          </a:p>
          <a:p>
            <a:r>
              <a:t>- HR teams often copy-paste or re-type the same information 3–5 times.</a:t>
            </a:r>
          </a:p>
          <a:p>
            <a:r>
              <a:t>- The stat cards on the right summarise the current state: 4–6 hours per hire, 5–10% error rate in payroll, and up to 300 hours of HR time per week for a 50-hire volume.</a:t>
            </a:r>
          </a:p>
          <a:p>
            <a:r>
              <a:t>- RPA is specifically designed for exactly this scenario: structured data, repeated process steps, multiple systems, high volume.</a:t>
            </a:r>
          </a:p>
          <a:p>
            <a:r>
              <a:t>- The business case is clear before we even look at the numbers.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4 — Business Process</a:t>
            </a:r>
          </a:p>
          <a:p/>
          <a:p>
            <a:r>
              <a:t>Walk through all 7 steps of the current onboarding workflow.</a:t>
            </a:r>
          </a:p>
          <a:p/>
          <a:p>
            <a:r>
              <a:t>Step 1 — Job Offer &amp; Acceptance: Currently HR manually prepares offer letters, sometimes in Word, sometimes in JD Edwards. Acceptance is tracked via email.</a:t>
            </a:r>
          </a:p>
          <a:p/>
          <a:p>
            <a:r>
              <a:t>Step 2 — Pre-Onboarding Setup: Personal data (name, address, SIN, banking info) is collected via form or email and manually keyed into systems.</a:t>
            </a:r>
          </a:p>
          <a:p/>
          <a:p>
            <a:r>
              <a:t>Step 3 — Document Management: ID, contracts, tax forms are collected and uploaded manually to SharePoint. Completeness is tracked on a spreadsheet.</a:t>
            </a:r>
          </a:p>
          <a:p/>
          <a:p>
            <a:r>
              <a:t>Step 4 — Payroll &amp; Benefits: This is the most error-prone step. Data already entered in JD Edwards must be re-entered in Paycon. Standard benefits are manually configured.</a:t>
            </a:r>
          </a:p>
          <a:p/>
          <a:p>
            <a:r>
              <a:t>Step 5 — IT Provisioning: IT receives a request (often by email) and manually creates accounts, assigns licences in Microsoft 365, and orders equipment.</a:t>
            </a:r>
          </a:p>
          <a:p/>
          <a:p>
            <a:r>
              <a:t>Step 6 — Training: HR manually sends calendar invites and LMS enrolment links.</a:t>
            </a:r>
          </a:p>
          <a:p/>
          <a:p>
            <a:r>
              <a:t>Step 7 — Follow-Up: HR checks in with the new hire on day one to confirm everything worked. This is a catch-all for anything that fell through the cracks.</a:t>
            </a:r>
          </a:p>
          <a:p/>
          <a:p>
            <a:r>
              <a:t>The key insight: Steps 2, 3, 4, and 5 are prime automation targets — all involve structured data and repeat actions.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5 — Systems &amp; Pain Points</a:t>
            </a:r>
          </a:p>
          <a:p/>
          <a:p>
            <a:r>
              <a:t>This slide maps the four key systems involved and the pain points they create together.</a:t>
            </a:r>
          </a:p>
          <a:p/>
          <a:p>
            <a:r>
              <a:t>Systems overview:</a:t>
            </a:r>
          </a:p>
          <a:p>
            <a:r>
              <a:t>- JD Edwards is the central HRIS/ERP — source of record for employee data.</a:t>
            </a:r>
          </a:p>
          <a:p>
            <a:r>
              <a:t>- Paycon is the payroll system — requires its own separate data entry.</a:t>
            </a:r>
          </a:p>
          <a:p>
            <a:r>
              <a:t>- Microsoft 365 handles email provisioning, licences, and Teams/SharePoint access.</a:t>
            </a:r>
          </a:p>
          <a:p>
            <a:r>
              <a:t>- SharePoint/OneDrive is used for document storage and HR file management.</a:t>
            </a:r>
          </a:p>
          <a:p/>
          <a:p>
            <a:r>
              <a:t>The critical problem: NONE of these four systems natively communicate with each other. Every data transfer requires a human to copy information from one screen and paste it into another.</a:t>
            </a:r>
          </a:p>
          <a:p/>
          <a:p>
            <a:r>
              <a:t>Pain points to emphasise:</a:t>
            </a:r>
          </a:p>
          <a:p>
            <a:r>
              <a:t>- The double/triple entry problem is the single biggest time sink.</a:t>
            </a:r>
          </a:p>
          <a:p>
            <a:r>
              <a:t>- The 5–10% payroll error rate has real financial and compliance consequences.</a:t>
            </a:r>
          </a:p>
          <a:p>
            <a:r>
              <a:t>- Document completeness tracking via email means things fall through the cracks regularly.</a:t>
            </a:r>
          </a:p>
          <a:p>
            <a:r>
              <a:t>- No integration means each system has to be separately maintained and manually synchronised.</a:t>
            </a:r>
          </a:p>
          <a:p/>
          <a:p>
            <a:r>
              <a:t>This combination of high volume + manual handoffs + no integration = perfect RPA use case.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6 — Use Case Evaluation</a:t>
            </a:r>
          </a:p>
          <a:p/>
          <a:p>
            <a:r>
              <a:t>This is the core recommendation slide. Spend adequate time here.</a:t>
            </a:r>
          </a:p>
          <a:p/>
          <a:p>
            <a:r>
              <a:t>Why Hybrid RPA?</a:t>
            </a:r>
          </a:p>
          <a:p>
            <a:r>
              <a:t>- Pure unattended would fail on edge cases: visa workers, custom benefits, non-standard contracts.</a:t>
            </a:r>
          </a:p>
          <a:p>
            <a:r>
              <a:t>- Pure attended would miss the efficiency gains from automating the 80% of standard, routine hires.</a:t>
            </a:r>
          </a:p>
          <a:p>
            <a:r>
              <a:t>- Hybrid gives us the best of both: speed at scale + control for exceptions.</a:t>
            </a:r>
          </a:p>
          <a:p/>
          <a:p>
            <a:r>
              <a:t>Unattended side — these are the tasks that run automatically, triggered when a new hire record is created:</a:t>
            </a:r>
          </a:p>
          <a:p>
            <a:r>
              <a:t>- JD Edwards data entry (highest value automation target)</a:t>
            </a:r>
          </a:p>
          <a:p>
            <a:r>
              <a:t>- Paycon payroll setup</a:t>
            </a:r>
          </a:p>
          <a:p>
            <a:r>
              <a:t>- M365 account creation</a:t>
            </a:r>
          </a:p>
          <a:p>
            <a:r>
              <a:t>- SharePoint document upload and filing</a:t>
            </a:r>
          </a:p>
          <a:p>
            <a:r>
              <a:t>- Benefits enrolment for standard packages</a:t>
            </a:r>
          </a:p>
          <a:p>
            <a:r>
              <a:t>- IT provisioning request</a:t>
            </a:r>
          </a:p>
          <a:p/>
          <a:p>
            <a:r>
              <a:t>Attended side — the bot assists HR but requires a human click to proceed:</a:t>
            </a:r>
          </a:p>
          <a:p>
            <a:r>
              <a:t>- Visa and work permit cases (legal complexity)</a:t>
            </a:r>
          </a:p>
          <a:p>
            <a:r>
              <a:t>- Non-standard benefits (executive packages, custom agreements)</a:t>
            </a:r>
          </a:p>
          <a:p>
            <a:r>
              <a:t>- Any data quality flags raised by the bot during processing</a:t>
            </a:r>
          </a:p>
          <a:p/>
          <a:p>
            <a:r>
              <a:t>Key selling point: the 80/20 split — roughly 80% of hires are standard and can be fully unattended. Only 20% need attended intervention. That's where the 70–80% effort reduction comes from.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7 — Implementation Plan</a:t>
            </a:r>
          </a:p>
          <a:p/>
          <a:p>
            <a:r>
              <a:t>This slide outlines what to automate first and what tools to use.</a:t>
            </a:r>
          </a:p>
          <a:p/>
          <a:p>
            <a:r>
              <a:t>Priority order rationale:</a:t>
            </a:r>
          </a:p>
          <a:p>
            <a:r>
              <a:t>1. JD Edwards data entry — highest frequency, highest manual effort, most downstream impact</a:t>
            </a:r>
          </a:p>
          <a:p>
            <a:r>
              <a:t>2. M365 account creation — fully scriptable via Microsoft Graph API, low risk, fast win</a:t>
            </a:r>
          </a:p>
          <a:p>
            <a:r>
              <a:t>3. SharePoint uploads — structured process, API available, directly improves compliance</a:t>
            </a:r>
          </a:p>
          <a:p>
            <a:r>
              <a:t>4. Paycon payroll setup — highest accuracy impact; should be done after JD Edwards data is validated</a:t>
            </a:r>
          </a:p>
          <a:p/>
          <a:p>
            <a:r>
              <a:t>Tools discussion:</a:t>
            </a:r>
          </a:p>
          <a:p>
            <a:r>
              <a:t>- UiPath is the most feature-rich for enterprise deployments with complex exception handling</a:t>
            </a:r>
          </a:p>
          <a:p>
            <a:r>
              <a:t>- Power Automate integrates natively with Microsoft 365 — ideal for M365 and SharePoint tasks</a:t>
            </a:r>
          </a:p>
          <a:p>
            <a:r>
              <a:t>- Blue Prism or Automation Anywhere if the organisation already has one licensed</a:t>
            </a:r>
          </a:p>
          <a:p>
            <a:r>
              <a:t>- The best approach may be a hybrid of Power Automate (for Microsoft stack) + UiPath (for JD Edwards/Paycon)</a:t>
            </a:r>
          </a:p>
          <a:p/>
          <a:p>
            <a:r>
              <a:t>Challenges to flag:</a:t>
            </a:r>
          </a:p>
          <a:p>
            <a:r>
              <a:t>- JD Edwards API availability is the biggest technical risk — if API access is limited, screen scraping increases maintenance burden significantly</a:t>
            </a:r>
          </a:p>
          <a:p>
            <a:r>
              <a:t>- PII handling requires encryption in transit, access controls on bot credentials, and audit logging</a:t>
            </a:r>
          </a:p>
          <a:p>
            <a:r>
              <a:t>- Change management is often underestimated — HR teams need training and trust-building before adopting attended bots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8 — Projected Benefits</a:t>
            </a:r>
          </a:p>
          <a:p/>
          <a:p>
            <a:r>
              <a:t>Walk through each row in the table.</a:t>
            </a:r>
          </a:p>
          <a:p/>
          <a:p>
            <a:r>
              <a:t>Row 1 — Time per hire: Currently 4–6 hours. After automation, reduced to 1–2 hours (the remaining time is for attended exception handling and human review). That's a 65–75% reduction in direct HR time per hire.</a:t>
            </a:r>
          </a:p>
          <a:p/>
          <a:p>
            <a:r>
              <a:t>Row 2 — Error rate: The 5–10% payroll/HRIS error rate drops to under 1% because bots don't transpose digits or skip fields. This has real payroll compliance implications.</a:t>
            </a:r>
          </a:p>
          <a:p/>
          <a:p>
            <a:r>
              <a:t>Row 3 — Weekly hours: At 50 hires per week, current manual effort is 250–300 hours of HR staff time. After automation: 50–75 hours. That's 3–4 full-time equivalents freed up each week.</a:t>
            </a:r>
          </a:p>
          <a:p/>
          <a:p>
            <a:r>
              <a:t>Row 4 — Document completeness: The automated checklist validation brings completeness from ~75% to over 95% — a major compliance improvement.</a:t>
            </a:r>
          </a:p>
          <a:p/>
          <a:p>
            <a:r>
              <a:t>Row 5 — Time-to-productivity: New hires get system access faster, meaning they can start doing actual work 2–3 days sooner.</a:t>
            </a:r>
          </a:p>
          <a:p/>
          <a:p>
            <a:r>
              <a:t>Row 6 — Cost: Harder to quantify precisely, but the FTE time savings translate directly to labour cost avoidance, plus reduced cost-of-errors in payroll.</a:t>
            </a:r>
          </a:p>
          <a:p/>
          <a:p>
            <a:r>
              <a:t>Bottom line (read the summary bar): 70–80% effort reduction, near-zero error rate, faster onboarding.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9 — Visual Chart</a:t>
            </a:r>
          </a:p>
          <a:p/>
          <a:p>
            <a:r>
              <a:t>This slide provides a visual summary of the three most important benefit metrics.</a:t>
            </a:r>
          </a:p>
          <a:p/>
          <a:p>
            <a:r>
              <a:t>Chart 1 — Time per hire:</a:t>
            </a:r>
          </a:p>
          <a:p>
            <a:r>
              <a:t>- Before: average 5 hours per hire</a:t>
            </a:r>
          </a:p>
          <a:p>
            <a:r>
              <a:t>- After: average 1.5 hours (attended exception handling remains)</a:t>
            </a:r>
          </a:p>
          <a:p>
            <a:r>
              <a:t>- Reduction: ~70%</a:t>
            </a:r>
          </a:p>
          <a:p/>
          <a:p>
            <a:r>
              <a:t>Chart 2 — Payroll error rate:</a:t>
            </a:r>
          </a:p>
          <a:p>
            <a:r>
              <a:t>- Before: 7.5% average error rate</a:t>
            </a:r>
          </a:p>
          <a:p>
            <a:r>
              <a:t>- After: 0.8% (residual manual attended steps)</a:t>
            </a:r>
          </a:p>
          <a:p>
            <a:r>
              <a:t>- Reduction: ~90% — this is the highest-impact quality improvement</a:t>
            </a:r>
          </a:p>
          <a:p/>
          <a:p>
            <a:r>
              <a:t>Chart 3 — Weekly HR hours (at 50 hires/week):</a:t>
            </a:r>
          </a:p>
          <a:p>
            <a:r>
              <a:t>- Before: ~275 hours per week</a:t>
            </a:r>
          </a:p>
          <a:p>
            <a:r>
              <a:t>- After: ~63 hours per week</a:t>
            </a:r>
          </a:p>
          <a:p>
            <a:r>
              <a:t>- Reduction: ~77%</a:t>
            </a:r>
          </a:p>
          <a:p/>
          <a:p>
            <a:r>
              <a:t>All three charts tell the same story: automation does not just improve speed — it fundamentally changes the scale at which HR can operate without adding headcount.</a:t>
            </a:r>
          </a:p>
          <a:p/>
          <a:p>
            <a:r>
              <a:t>Refer audience back to the full interactive website (GitHub link on next slide) where these charts are rendered as live Chart.js visualisations with hover tooltips.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10 — Summary &amp; Closing</a:t>
            </a:r>
          </a:p>
          <a:p/>
          <a:p>
            <a:r>
              <a:t>This is the closing slide. Summarise the five key takeaways and direct the audience to the GitHub repo.</a:t>
            </a:r>
          </a:p>
          <a:p/>
          <a:p>
            <a:r>
              <a:t>Takeaway walkthrough:</a:t>
            </a:r>
          </a:p>
          <a:p>
            <a:r>
              <a:t>1. Hybrid RPA — not all-or-nothing. The hybrid model is the right approach because it respects the complexity of HR work while maximising automation where rules are clear.</a:t>
            </a:r>
          </a:p>
          <a:p>
            <a:r>
              <a:t>2. 70–80% effort reduction — the headline number. This is conservative and based on the 80% standard hire / 20% exception split assumption.</a:t>
            </a:r>
          </a:p>
          <a:p>
            <a:r>
              <a:t>3. Sub-1% error rate — automation doesn't get tired, doesn't transpose numbers, doesn't skip fields. The quality improvement is arguably more important than the time saving for payroll compliance.</a:t>
            </a:r>
          </a:p>
          <a:p>
            <a:r>
              <a:t>4. Faster onboarding — employee experience matters. A new hire who has email and system access on Day 1 has a fundamentally better experience.</a:t>
            </a:r>
          </a:p>
          <a:p>
            <a:r>
              <a:t>5. Multi-system bridge — this is the architectural insight: RPA doesn't replace any of the existing systems, it just removes the human from the data handoff between them.</a:t>
            </a:r>
          </a:p>
          <a:p/>
          <a:p>
            <a:r>
              <a:t>GitHub link:</a:t>
            </a:r>
          </a:p>
          <a:p>
            <a:r>
              <a:t>- All files are publicly available at the link shown</a:t>
            </a:r>
          </a:p>
          <a:p>
            <a:r>
              <a:t>- The HTML website includes live Chart.js visualisations with full interactivity</a:t>
            </a:r>
          </a:p>
          <a:p>
            <a:r>
              <a:t>- README.pdf is the formatted version of this documentation</a:t>
            </a:r>
          </a:p>
          <a:p/>
          <a:p>
            <a:r>
              <a:t>Thank the audience and invite questions.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1A3A5C"/>
              </a:gs>
              <a:gs pos="100000">
                <a:srgbClr val="0D7ECF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601200" y="-1097280"/>
            <a:ext cx="3657600" cy="3657600"/>
          </a:xfrm>
          <a:prstGeom prst="ellipse">
            <a:avLst/>
          </a:prstGeom>
          <a:solidFill>
            <a:srgbClr val="0D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097280" y="1463040"/>
            <a:ext cx="2926080" cy="347472"/>
          </a:xfrm>
          <a:prstGeom prst="rect">
            <a:avLst/>
          </a:prstGeom>
          <a:solidFill>
            <a:srgbClr val="0D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15568" y="1481328"/>
            <a:ext cx="292608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</a:rPr>
              <a:t>RPA USE CASE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</a:rPr>
              <a:t>Employee Onboarding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97480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00B4D8"/>
                </a:solidFill>
              </a:rPr>
              <a:t>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66160"/>
            <a:ext cx="7772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CCE5FF"/>
                </a:solidFill>
              </a:rPr>
              <a:t>A Hybrid RPA Use Case Analysis for HR Operations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1097280" y="4572000"/>
            <a:ext cx="2834640" cy="594360"/>
          </a:xfrm>
          <a:prstGeom prst="rect">
            <a:avLst/>
          </a:prstGeom>
          <a:solidFill>
            <a:srgbClr val="0D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07008" y="45902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CCFF"/>
                </a:solidFill>
              </a:rPr>
              <a:t>COURSE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07008" y="47914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Robotic Process Automation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4572000"/>
            <a:ext cx="2834640" cy="594360"/>
          </a:xfrm>
          <a:prstGeom prst="rect">
            <a:avLst/>
          </a:prstGeom>
          <a:solidFill>
            <a:srgbClr val="0D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24528" y="45902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CCFF"/>
                </a:solidFill>
              </a:rPr>
              <a:t>ASSIGNMENT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24528" y="47914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No. 01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0" y="4572000"/>
            <a:ext cx="2834640" cy="594360"/>
          </a:xfrm>
          <a:prstGeom prst="rect">
            <a:avLst/>
          </a:prstGeom>
          <a:solidFill>
            <a:srgbClr val="0D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42048" y="4590288"/>
            <a:ext cx="26517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1" i="0">
                <a:solidFill>
                  <a:srgbClr val="99CCFF"/>
                </a:solidFill>
              </a:rPr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42048" y="4791456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March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56692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B4D8"/>
                </a:solidFill>
              </a:rPr>
              <a:t>🔗  github.com/omais-eng/Course-Robotic-Process-Automation</a:t>
            </a:r>
          </a:p>
        </p:txBody>
      </p:sp>
      <p:pic>
        <p:nvPicPr>
          <p:cNvPr id="20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0"/>
                </p:tgtEl>
              </p:cMediaNode>
            </p:video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7315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5448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58368" y="175564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Introduction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Why HR onboarding suits RPA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4320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58368" y="294436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8" y="2944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Business Process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7-step onboarding workflow &amp; systems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93192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8" y="413308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Pain Points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344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Where manual effort breaks down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512064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58368" y="532180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" y="53218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34440" y="52120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Use Case Evaluation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34440" y="5623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Hybrid RPA recommendation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55448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01968" y="175564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01968" y="175564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7804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Implementation Plan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Tools, priorities &amp; challenges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492240" y="274320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01968" y="294436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1968" y="29443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78040" y="2834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Projected Benefits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178040" y="3246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Quantified time &amp; error savings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92240" y="3931920"/>
            <a:ext cx="5486400" cy="100584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01968" y="413308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01968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4023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3A5C"/>
                </a:solidFill>
              </a:rPr>
              <a:t>Summary &amp; GitHub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178040" y="4434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Key takeaways and resources</a:t>
            </a:r>
          </a:p>
        </p:txBody>
      </p:sp>
      <p:pic>
        <p:nvPicPr>
          <p:cNvPr id="41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Why HR Onboarding is a Prime RPA Candidate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62179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>
              <a:spcAft>
                <a:spcPts val="1000"/>
              </a:spcAft>
            </a:pPr>
            <a:r>
              <a:rPr sz="1300" b="0">
                <a:solidFill>
                  <a:srgbClr val="1E2A38"/>
                </a:solidFill>
              </a:rPr>
              <a:t>• Each new hire triggers a cascade of coordinated tasks across HR, IT, Payroll and Compliance.</a:t>
            </a:r>
          </a:p>
          <a:p>
            <a:pPr algn="l" lvl="1">
              <a:spcAft>
                <a:spcPts val="1000"/>
              </a:spcAft>
            </a:pPr>
            <a:r>
              <a:rPr sz="1300" b="0">
                <a:solidFill>
                  <a:srgbClr val="1E2A38"/>
                </a:solidFill>
              </a:rPr>
              <a:t>• The same employee data is manually re-entered into multiple disconnected systems.</a:t>
            </a:r>
          </a:p>
          <a:p>
            <a:pPr algn="l" lvl="1">
              <a:spcAft>
                <a:spcPts val="1000"/>
              </a:spcAft>
            </a:pPr>
            <a:r>
              <a:rPr sz="1300" b="0">
                <a:solidFill>
                  <a:srgbClr val="1E2A38"/>
                </a:solidFill>
              </a:rPr>
              <a:t>• Onboarding is high-volume, rule-based, and structured — ideal for automation.</a:t>
            </a:r>
          </a:p>
          <a:p>
            <a:pPr algn="l" lvl="1">
              <a:spcAft>
                <a:spcPts val="1000"/>
              </a:spcAft>
            </a:pPr>
            <a:r>
              <a:rPr sz="1300" b="0">
                <a:solidFill>
                  <a:srgbClr val="1E2A38"/>
                </a:solidFill>
              </a:rPr>
              <a:t>• Manual execution leads to delays, errors, and a poor first-day experience for new hires.</a:t>
            </a:r>
          </a:p>
          <a:p>
            <a:pPr algn="l" lvl="1">
              <a:spcAft>
                <a:spcPts val="1000"/>
              </a:spcAft>
            </a:pPr>
            <a:r>
              <a:rPr sz="1300" b="0">
                <a:solidFill>
                  <a:srgbClr val="1E2A38"/>
                </a:solidFill>
              </a:rPr>
              <a:t>• RPA can handle repetitive data tasks while keeping humans in the loop for exceptions.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132320" y="1554480"/>
            <a:ext cx="4480560" cy="132588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0" y="173736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4–6 hrs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237744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5FF"/>
                </a:solidFill>
              </a:rPr>
              <a:t>Manual effort per hire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3063240"/>
            <a:ext cx="4480560" cy="132588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324612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5–10%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32320" y="388620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5FF"/>
                </a:solidFill>
              </a:rPr>
              <a:t>Payroll error rate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132320" y="4572000"/>
            <a:ext cx="4480560" cy="1325880"/>
          </a:xfrm>
          <a:prstGeom prst="rect">
            <a:avLst/>
          </a:prstGeom>
          <a:solidFill>
            <a:srgbClr val="0D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4754880"/>
            <a:ext cx="448056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</a:rPr>
              <a:t>250–300 hrs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5394960"/>
            <a:ext cx="4480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CCE5FF"/>
                </a:solidFill>
              </a:rPr>
              <a:t>HR hrs/week (50 hires)</a:t>
            </a:r>
          </a:p>
        </p:txBody>
      </p:sp>
      <p:pic>
        <p:nvPicPr>
          <p:cNvPr id="17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Business Process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End-to-End Onboarding Workflow — 7 Steps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18488"/>
            <a:ext cx="73152" cy="82296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12064" y="1618488"/>
            <a:ext cx="566928" cy="566928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2064" y="161848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16152" y="16002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Job Offer &amp; Acceptance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16152" y="19842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HR sends offer via JD Edwards; candidate confirms.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7472" y="2880360"/>
            <a:ext cx="73152" cy="82296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12064" y="2880360"/>
            <a:ext cx="566928" cy="566928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2064" y="288036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286207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Pre-Onboarding Setup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16152" y="3246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Collect personal info, assign email &amp; credentials.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47472" y="4142232"/>
            <a:ext cx="73152" cy="82296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12064" y="4142232"/>
            <a:ext cx="566928" cy="566928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" y="414223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16152" y="412394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Document Management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16152" y="45079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Upload docs to SharePoint; verify completeness.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7472" y="5404104"/>
            <a:ext cx="73152" cy="82296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12064" y="5404104"/>
            <a:ext cx="566928" cy="566928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2064" y="5404104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6152" y="5385816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Payroll &amp; Benefits Setup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216152" y="5769864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Enter details into Paycon; enrol in benefits.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36792" y="1618488"/>
            <a:ext cx="73152" cy="82296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501384" y="1618488"/>
            <a:ext cx="566928" cy="566928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01384" y="1618488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05472" y="1600200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IT &amp; Equipment Provisioning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05472" y="1984248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Request laptop/phone; assign software access.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36792" y="2880360"/>
            <a:ext cx="73152" cy="82296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501384" y="2880360"/>
            <a:ext cx="566928" cy="566928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01384" y="2880360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05472" y="2862072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Orientation &amp; Training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05472" y="3246120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Schedule sessions; assign LMS pathways.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336792" y="4142232"/>
            <a:ext cx="73152" cy="82296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501384" y="4142232"/>
            <a:ext cx="566928" cy="566928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01384" y="4142232"/>
            <a:ext cx="566928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05472" y="4123944"/>
            <a:ext cx="4846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A5C"/>
                </a:solidFill>
              </a:rPr>
              <a:t>First-Day Follow-Up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05472" y="4507992"/>
            <a:ext cx="4846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7E"/>
                </a:solidFill>
              </a:rPr>
              <a:t>Confirm system access; close checklist.</a:t>
            </a:r>
          </a:p>
        </p:txBody>
      </p:sp>
      <p:pic>
        <p:nvPicPr>
          <p:cNvPr id="42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2"/>
                </p:tgtEl>
              </p:cMediaNode>
            </p:video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Systems &amp; Pain 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Disconnected Systems → Manual Bridges → Errors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508760"/>
            <a:ext cx="2743200" cy="9144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572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JD Edwards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965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FF"/>
                </a:solidFill>
              </a:rPr>
              <a:t>HRIS / ERP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73552" y="1508760"/>
            <a:ext cx="2743200" cy="9144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572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Paycon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73552" y="1965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FF"/>
                </a:solidFill>
              </a:rPr>
              <a:t>Payroll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99632" y="1508760"/>
            <a:ext cx="2743200" cy="914400"/>
          </a:xfrm>
          <a:prstGeom prst="rect">
            <a:avLst/>
          </a:prstGeom>
          <a:solidFill>
            <a:srgbClr val="0D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9632" y="1572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Microsoft 365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9632" y="1965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FF"/>
                </a:solidFill>
              </a:rPr>
              <a:t>Email &amp; 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125712" y="1508760"/>
            <a:ext cx="2743200" cy="914400"/>
          </a:xfrm>
          <a:prstGeom prst="rect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25712" y="157276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</a:rPr>
              <a:t>SharePoint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25712" y="196596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FF"/>
                </a:solidFill>
              </a:rPr>
              <a:t>Document Storage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97180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A7E"/>
                </a:solidFill>
              </a:rPr>
              <a:t>⟷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A7E"/>
                </a:solidFill>
              </a:rPr>
              <a:t>⟷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23960" y="1737360"/>
            <a:ext cx="274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5A6A7E"/>
                </a:solidFill>
              </a:rPr>
              <a:t>⟷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" y="2606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7C00"/>
                </a:solidFill>
              </a:rPr>
              <a:t>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260604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Manual data re-entry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2606040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Same employee data typed into 3+ separate systems — no automation bridge.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" y="3374136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7C00"/>
                </a:solidFill>
              </a:rPr>
              <a:t>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3741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Time-consuming setup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37560" y="3374136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4–6 hours of HR effort per hire; setup delays new employee start dates.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7472" y="4142232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4142232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Payroll errors (5–10%)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37560" y="4142232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Manual Paycon entry causes compensation, tax, and benefits mistakes.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" y="4910328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DC2626"/>
                </a:solidFill>
              </a:rPr>
              <a:t>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9808" y="491032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Document tracking via email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37560" y="4910328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Completeness monitoring is ad hoc — documents get missed.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47472" y="5678424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57C00"/>
                </a:solidFill>
              </a:rPr>
              <a:t>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9808" y="56784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No native integration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337560" y="5678424"/>
            <a:ext cx="8412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JD Edwards, Paycon, and M365 require manual handoffs between each.</a:t>
            </a:r>
          </a:p>
        </p:txBody>
      </p:sp>
      <p:pic>
        <p:nvPicPr>
          <p:cNvPr id="37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7"/>
                </p:tgtEl>
              </p:cMediaNode>
            </p:video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Use Case Evaluation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Recommendation: Hybrid RPA — Unattended + Attended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554480"/>
            <a:ext cx="5394960" cy="4160520"/>
          </a:xfrm>
          <a:prstGeom prst="rect">
            <a:avLst/>
          </a:prstGeom>
          <a:solidFill>
            <a:srgbClr val="E8F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64592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A5C"/>
                </a:solidFill>
              </a:rPr>
              <a:t>🤖  Unattended Automation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5120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A7E"/>
                </a:solidFill>
              </a:rPr>
              <a:t>Runs without HR input — handles standard, high-volume tasks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377440"/>
            <a:ext cx="51206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Upload employee data to JD Edwards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Enter payroll details into Paycon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Create Microsoft 365 accounts &amp; assign licences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Upload &amp; organise documents in SharePoint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Generate standard payroll / benefits entries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Trigger IT provisioning requests automatically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89320" y="1554480"/>
            <a:ext cx="5852160" cy="4160520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108192" y="1645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92400E"/>
                </a:solidFill>
              </a:rPr>
              <a:t>👤  Attended Automation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08192" y="201168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5A6A7E"/>
                </a:solidFill>
              </a:rPr>
              <a:t>HR-assisted — handles exceptions requiring human judgement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08192" y="2377440"/>
            <a:ext cx="55778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Review flagged exceptions (visa/contract workers)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Approve custom or non-standard benefits packages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Adjust data anomalies detected by bots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Handle edge-case or non-standard documents</a:t>
            </a:r>
          </a:p>
          <a:p>
            <a:pPr algn="l" lvl="1">
              <a:spcAft>
                <a:spcPts val="700"/>
              </a:spcAft>
            </a:pPr>
            <a:r>
              <a:rPr sz="1200" b="0">
                <a:solidFill>
                  <a:srgbClr val="1E2A38"/>
                </a:solidFill>
              </a:rPr>
              <a:t>• Compliance-sensitive sign-off steps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5870448"/>
            <a:ext cx="11494008" cy="658368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5925312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532D"/>
                </a:solidFill>
              </a:rPr>
              <a:t>✅  Justification: High volume of standard hires → unattended saves time. Special cases require attended steps. Well-defined rules reduce implementation risk.</a:t>
            </a:r>
          </a:p>
        </p:txBody>
      </p:sp>
      <p:pic>
        <p:nvPicPr>
          <p:cNvPr id="17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17"/>
                </p:tgtEl>
              </p:cMediaNode>
            </p:video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Implementation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Priority Targets · Tools · Challenges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66420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66420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161848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JD Edwards Data Entry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6596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Highest volume; automate transfer of all new hire data.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47472" y="248716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" y="248716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244144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M365 Account Creation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278892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Bot provisions email, licence, and security groups by role.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331012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472" y="331012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326440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SharePoint Doc Upload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361188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Auto-sort, name, upload docs with completeness check.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47472" y="4133088"/>
            <a:ext cx="457200" cy="4572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47472" y="4133088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" y="4087368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3A5C"/>
                </a:solidFill>
              </a:rPr>
              <a:t>Paycon Payroll Setup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4434840"/>
            <a:ext cx="3383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5A6A7E"/>
                </a:solidFill>
              </a:rPr>
              <a:t>Replicate validated data; configure standard benefits.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46320" y="1508760"/>
            <a:ext cx="32004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956048" y="1572768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RPA Platforms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83480" y="193852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▸  UiPath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983480" y="234086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▸  Automation Anywhere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83480" y="274320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▸  Blue Prism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83480" y="3145536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E2A38"/>
                </a:solidFill>
              </a:rPr>
              <a:t>▸  Power Automate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846320" y="5029200"/>
            <a:ext cx="3200400" cy="14630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956048" y="5102352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3A5C"/>
                </a:solidFill>
              </a:rPr>
              <a:t>Integration Methods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983480" y="5468112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A38"/>
                </a:solidFill>
              </a:rPr>
              <a:t>▸  JD Edwards REST API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83480" y="5815584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A38"/>
                </a:solidFill>
              </a:rPr>
              <a:t>▸  MS Graph API (M365)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83480" y="6163056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A38"/>
                </a:solidFill>
              </a:rPr>
              <a:t>▸  SharePoint Connector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75320" y="1508760"/>
            <a:ext cx="3566160" cy="4983480"/>
          </a:xfrm>
          <a:prstGeom prst="rect">
            <a:avLst/>
          </a:prstGeom>
          <a:solidFill>
            <a:srgbClr val="FFF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94192" y="1572768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92400E"/>
                </a:solidFill>
              </a:rPr>
              <a:t>⚠  Key Challenges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94192" y="1993392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</a:rPr>
              <a:t>• Exception handling for non-standard hire types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94192" y="2761488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</a:rPr>
              <a:t>• JD Edwards API limits → may need screen scraping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94192" y="3529584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</a:rPr>
              <a:t>• PII data security across automated flows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192" y="4297680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</a:rPr>
              <a:t>• Inconsistent SharePoint permission structures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94192" y="5065776"/>
            <a:ext cx="3337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1E2A38"/>
                </a:solidFill>
              </a:rPr>
              <a:t>• HR change management &amp; adoption</a:t>
            </a:r>
          </a:p>
        </p:txBody>
      </p:sp>
      <p:pic>
        <p:nvPicPr>
          <p:cNvPr id="41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41"/>
                </p:tgtEl>
              </p:cMediaNode>
            </p:video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Projected Benefits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Before vs. After Automation — Quantified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" y="1572768"/>
            <a:ext cx="3419856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" y="1572768"/>
            <a:ext cx="341985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Metric</a:t>
            </a:r>
          </a:p>
        </p:txBody>
      </p:sp>
      <p:sp>
        <p:nvSpPr>
          <p:cNvPr id="9" name="Rectangle 8"/>
          <p:cNvSpPr/>
          <p:nvPr/>
        </p:nvSpPr>
        <p:spPr>
          <a:xfrm>
            <a:off x="3858768" y="1572768"/>
            <a:ext cx="1956816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58768" y="157276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Before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07024" y="1572768"/>
            <a:ext cx="1956816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07024" y="1572768"/>
            <a:ext cx="195681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After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1572768"/>
            <a:ext cx="2231136" cy="4572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1572768"/>
            <a:ext cx="2231136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</a:rPr>
              <a:t>Improvement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47472" y="2057400"/>
            <a:ext cx="341985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" y="216712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A38"/>
                </a:solidFill>
              </a:rPr>
              <a:t>Time per hire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58768" y="2057400"/>
            <a:ext cx="195681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50208" y="21671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</a:rPr>
              <a:t>4–6 hours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907024" y="2057400"/>
            <a:ext cx="195681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98464" y="216712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</a:rPr>
              <a:t>1–2 hours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55279" y="2057400"/>
            <a:ext cx="223113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46719" y="216712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7ECF"/>
                </a:solidFill>
              </a:rPr>
              <a:t>~65–75% faster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47472" y="2734056"/>
            <a:ext cx="341985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38912" y="2843784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A38"/>
                </a:solidFill>
              </a:rPr>
              <a:t>Payroll/HRIS error rate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58768" y="2734056"/>
            <a:ext cx="195681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50208" y="28437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</a:rPr>
              <a:t>5–10%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907024" y="2734056"/>
            <a:ext cx="195681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98464" y="284378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</a:rPr>
              <a:t>&lt;1%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955279" y="2734056"/>
            <a:ext cx="223113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9" y="2843784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7ECF"/>
                </a:solidFill>
              </a:rPr>
              <a:t>~90% reduction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7472" y="3410712"/>
            <a:ext cx="341985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8912" y="35204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A38"/>
                </a:solidFill>
              </a:rPr>
              <a:t>Weekly HR hours (50 hires)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858768" y="3410712"/>
            <a:ext cx="195681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950208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</a:rPr>
              <a:t>250–300 hrs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07024" y="3410712"/>
            <a:ext cx="195681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98464" y="35204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</a:rPr>
              <a:t>50–75 hrs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955279" y="3410712"/>
            <a:ext cx="223113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46719" y="35204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7ECF"/>
                </a:solidFill>
              </a:rPr>
              <a:t>~75–80% savings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47472" y="4087368"/>
            <a:ext cx="341985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38912" y="4197096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A38"/>
                </a:solidFill>
              </a:rPr>
              <a:t>Document completeness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858768" y="4087368"/>
            <a:ext cx="195681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950208" y="41970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</a:rPr>
              <a:t>70–80%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907024" y="4087368"/>
            <a:ext cx="195681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998464" y="41970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</a:rPr>
              <a:t>&gt;95%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955279" y="4087368"/>
            <a:ext cx="223113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046719" y="4197096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7ECF"/>
                </a:solidFill>
              </a:rPr>
              <a:t>Compliance gain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47472" y="4764024"/>
            <a:ext cx="341985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38912" y="487375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A38"/>
                </a:solidFill>
              </a:rPr>
              <a:t>Time-to-productivity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858768" y="4764024"/>
            <a:ext cx="195681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50208" y="4873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</a:rPr>
              <a:t>3–5 days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907024" y="4764024"/>
            <a:ext cx="195681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998464" y="48737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</a:rPr>
              <a:t>1–2 days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55279" y="4764024"/>
            <a:ext cx="2231136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19" y="4873752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7ECF"/>
                </a:solidFill>
              </a:rPr>
              <a:t>Faster ramp-up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47472" y="5440680"/>
            <a:ext cx="341985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5550408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1E2A38"/>
                </a:solidFill>
              </a:rPr>
              <a:t>Resource cost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858768" y="5440680"/>
            <a:ext cx="195681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950208" y="5550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DC2626"/>
                </a:solidFill>
              </a:rPr>
              <a:t>High manual cost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07024" y="5440680"/>
            <a:ext cx="195681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98464" y="555040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16A34A"/>
                </a:solidFill>
              </a:rPr>
              <a:t>Reduced FTE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7955279" y="5440680"/>
            <a:ext cx="2231136" cy="621792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046719" y="5550408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50" b="1" i="0">
                <a:solidFill>
                  <a:srgbClr val="0D7ECF"/>
                </a:solidFill>
              </a:rPr>
              <a:t>Cost avoidance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47472" y="6199632"/>
            <a:ext cx="11494008" cy="411480"/>
          </a:xfrm>
          <a:prstGeom prst="rect">
            <a:avLst/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502920" y="6236208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14532D"/>
                </a:solidFill>
              </a:rPr>
              <a:t>✅  Hybrid RPA reduces manual effort by 70–80%, brings error rates below 1%, and accelerates new hire readiness from days to hours.</a:t>
            </a:r>
          </a:p>
        </p:txBody>
      </p:sp>
      <p:pic>
        <p:nvPicPr>
          <p:cNvPr id="65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65"/>
                </p:tgtEl>
              </p:cMediaNode>
            </p:video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4F7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D7E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1A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56032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Benefits at a Glance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00B4D8"/>
                </a:solidFill>
              </a:rPr>
              <a:t>Visual Comparison — Before (red) vs. After (green) Automation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344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Time Per Hire (hours)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164080"/>
            <a:ext cx="640080" cy="30480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18440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5.0h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5257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A38"/>
                </a:solidFill>
              </a:rPr>
              <a:t>Before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194560" y="4297680"/>
            <a:ext cx="640080" cy="9144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194560" y="39776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1.5h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5257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A38"/>
                </a:solidFill>
              </a:rPr>
              <a:t>After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325880" y="1554480"/>
            <a:ext cx="36576" cy="3657600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325880" y="5212080"/>
            <a:ext cx="2286000" cy="36576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2344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Payroll Error Rate (%)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846320" y="2468880"/>
            <a:ext cx="640080" cy="27432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846320" y="21488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7.5%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5257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A38"/>
                </a:solidFill>
              </a:rPr>
              <a:t>Before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669280" y="4919472"/>
            <a:ext cx="640080" cy="29260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669280" y="4599432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0.8%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9280" y="5257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A38"/>
                </a:solidFill>
              </a:rPr>
              <a:t>After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800600" y="1554480"/>
            <a:ext cx="36576" cy="3657600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800600" y="5212080"/>
            <a:ext cx="2286000" cy="36576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123444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3A5C"/>
                </a:solidFill>
              </a:rPr>
              <a:t>Weekly HR Hours (÷10)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321040" y="1859280"/>
            <a:ext cx="640080" cy="33528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1539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DC2626"/>
                </a:solidFill>
              </a:rPr>
              <a:t>275h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21040" y="5257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A38"/>
                </a:solidFill>
              </a:rPr>
              <a:t>Before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144000" y="4450080"/>
            <a:ext cx="640080" cy="762000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41300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6A34A"/>
                </a:solidFill>
              </a:rPr>
              <a:t>63h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0" y="5257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1E2A38"/>
                </a:solidFill>
              </a:rPr>
              <a:t>After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75320" y="1554480"/>
            <a:ext cx="36576" cy="3657600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275320" y="5212080"/>
            <a:ext cx="2286000" cy="36576"/>
          </a:xfrm>
          <a:prstGeom prst="rect">
            <a:avLst/>
          </a:prstGeom>
          <a:solidFill>
            <a:srgbClr val="5A6A7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14800" y="5943600"/>
            <a:ext cx="201168" cy="201168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8912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A38"/>
                </a:solidFill>
              </a:rPr>
              <a:t>Before Automation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858000" y="5943600"/>
            <a:ext cx="201168" cy="201168"/>
          </a:xfrm>
          <a:prstGeom prst="rect">
            <a:avLst/>
          </a:prstGeom>
          <a:solidFill>
            <a:srgbClr val="16A3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0" y="59253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E2A38"/>
                </a:solidFill>
              </a:rPr>
              <a:t>After Automation</a:t>
            </a:r>
          </a:p>
        </p:txBody>
      </p:sp>
      <p:pic>
        <p:nvPicPr>
          <p:cNvPr id="38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8"/>
                </p:tgtEl>
              </p:cMediaNode>
            </p:video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gradFill rotWithShape="1">
            <a:gsLst>
              <a:gs pos="0">
                <a:srgbClr val="1A3A5C"/>
              </a:gs>
              <a:gs pos="100000">
                <a:srgbClr val="0D7ECF"/>
              </a:gs>
            </a:gsLst>
            <a:lin scaled="0" ang="1350000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29400"/>
            <a:ext cx="12188952" cy="228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536192"/>
            <a:ext cx="54864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353312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🔄  Hybrid RPA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1719072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Combines unattended efficiency with attended exception control.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395728"/>
            <a:ext cx="54864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212848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⏱  70–80% Less Effort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578608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Per-hire HR time drops from 4–6 hrs to 1–2 hrs.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3255264"/>
            <a:ext cx="54864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3072384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✅  &lt;1% Error 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438144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Automated data entry virtually eliminates payroll mistakes.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4114800"/>
            <a:ext cx="54864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5840" y="3931920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🚀  Faster Onboarding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429768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New hires reach productivity 2–3 days sooner.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4974336"/>
            <a:ext cx="54864" cy="292608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791456"/>
            <a:ext cx="4114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🔗  Multi-System Bridge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05840" y="5157216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CCE5FF"/>
                </a:solidFill>
              </a:rPr>
              <a:t>RPA connects JD Edwards, Paycon, M365 and SharePoint.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83680" y="1280160"/>
            <a:ext cx="5212080" cy="3931920"/>
          </a:xfrm>
          <a:prstGeom prst="rect">
            <a:avLst/>
          </a:prstGeom>
          <a:solidFill>
            <a:srgbClr val="0D5E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5120" y="14173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📁  Full Deliverable on GitHub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1874519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B4D8"/>
                </a:solidFill>
              </a:rPr>
              <a:t>github.com/omais-eng/
Course-Robotic-Process-Automation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2743200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Includes: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6324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5FF"/>
                </a:solidFill>
              </a:rPr>
              <a:t>▸  rpa-onboarding.html — interactive website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4472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5FF"/>
                </a:solidFill>
              </a:rPr>
              <a:t>▸  README.md — full documentation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3831336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CCE5FF"/>
                </a:solidFill>
              </a:rPr>
              <a:t>▸  README.pdf — formatted PDF report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99BBDD"/>
                </a:solidFill>
              </a:rPr>
              <a:t>Course: Robotic Process Automation  ·  Assignment No. 01  ·  March 2026</a:t>
            </a:r>
          </a:p>
        </p:txBody>
      </p:sp>
      <p:pic>
        <p:nvPicPr>
          <p:cNvPr id="28" name="assignment1_presentation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8166599" y="5760720"/>
            <a:ext cx="3900464" cy="10287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